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1247328"/>
            <a:ext cx="666750" cy="666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990403"/>
            <a:ext cx="11601450" cy="890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012"/>
              </a:lnSpc>
            </a:pPr>
            <a:r>
              <a:rPr b="0" sz="6375" i="0" u="none">
                <a:solidFill>
                  <a:srgbClr val="FFFFFF"/>
                </a:solidFill>
                <a:latin typeface="Poppins Black"/>
              </a:rPr>
              <a:t>QUANT</a:t>
            </a:r>
            <a:r>
              <a:rPr b="0" sz="6375" i="0" u="none">
                <a:solidFill>
                  <a:srgbClr val="06B6D4"/>
                </a:solidFill>
                <a:latin typeface="Poppins Black"/>
              </a:rPr>
              <a:t>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071491"/>
            <a:ext cx="85725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FFFFFF"/>
                </a:solidFill>
                <a:latin typeface="Inter SemiBold"/>
              </a:rPr>
              <a:t>Transformando la disciplina en progreso medible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688681"/>
            <a:ext cx="8572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B8C8DC"/>
                </a:solidFill>
                <a:latin typeface="Inter"/>
              </a:rPr>
              <a:t>Una exploración visual de la plataforma, arquitectura híbrida y la integración con dispositivos WearOS.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12" y="2152203"/>
            <a:ext cx="2219325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212" y="2152203"/>
            <a:ext cx="1343025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7112" y="2152203"/>
            <a:ext cx="12858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7133"/>
            <a:ext cx="3460700" cy="33105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75" y="2307133"/>
            <a:ext cx="3460700" cy="3310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307133"/>
            <a:ext cx="3460849" cy="33105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631" y="3459658"/>
            <a:ext cx="2310288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FFFFFF"/>
                </a:solidFill>
                <a:latin typeface="Poppins SemiBold"/>
              </a:rPr>
              <a:t>Hábitos Medibles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74008"/>
            <a:ext cx="2870150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Creación, edición y seguimiento exhaustivo de hábitos con objetivos diarios totalmente personalizados.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0740" y="3459658"/>
            <a:ext cx="177022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FFFFFF"/>
                </a:solidFill>
                <a:latin typeface="Poppins SemiBold"/>
              </a:rPr>
              <a:t>Gamificación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3974008"/>
            <a:ext cx="2870150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Implementación de rachas, sistema de logros y recompensas para reforzar positivamente la consistencia.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0000" y="3459658"/>
            <a:ext cx="12001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FFFFFF"/>
                </a:solidFill>
                <a:latin typeface="Poppins SemiBold"/>
              </a:rPr>
              <a:t>Analítica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4925" y="3974008"/>
            <a:ext cx="2870299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Visualización avanzada de adherencia, tendencias de rendimiento y datos históricos para mejores decisiones.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650" y="2697658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151" y="2697658"/>
            <a:ext cx="5334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1950" y="2697658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¿Qué es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QUANTIFY?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8982"/>
            <a:ext cx="5286375" cy="23066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808982"/>
            <a:ext cx="5286375" cy="2306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199507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oppins SemiBold"/>
              </a:rPr>
              <a:t>Progreso Poco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713857"/>
            <a:ext cx="450532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Los usuarios pueden mantener hábitos por días, pero sin visibilidad a largo plazo, una mala racha destruye rápidamente la motivación.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3199507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oppins SemiBold"/>
              </a:rPr>
              <a:t>Métricas Limitadas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713857"/>
            <a:ext cx="450532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Un modelo binario de seguimiento "sí/no" falla en capturar el esfuerzo real, tiempo o rendimiento dedicado a una tarea compleja.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El Problema a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Resolver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610195"/>
            <a:ext cx="9525000" cy="1485602"/>
          </a:xfrm>
          <a:prstGeom prst="roundRect">
            <a:avLst>
              <a:gd name="adj" fmla="val 7693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95500" y="848320"/>
            <a:ext cx="8477250" cy="1009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01. Seguimiento Sin Fricción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Facilitar el registro diario del cumplimiento de hábitos mediante interfaces intuitivas en web y smartwatch.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286297"/>
            <a:ext cx="9525000" cy="1485602"/>
          </a:xfrm>
          <a:prstGeom prst="roundRect">
            <a:avLst>
              <a:gd name="adj" fmla="val 7693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95500" y="2524422"/>
            <a:ext cx="8477250" cy="1009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02. Visualización Clara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Proporcionar tableros estadísticos y de tendencias que traduzcan datos crudos en un entendimiento real del progreso.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962400"/>
            <a:ext cx="9525000" cy="1485602"/>
          </a:xfrm>
          <a:prstGeom prst="roundRect">
            <a:avLst>
              <a:gd name="adj" fmla="val 7693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5500" y="4200525"/>
            <a:ext cx="8477250" cy="1009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03. Integridad Arquitectónica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Separar los datos transaccionales críticos de los registros masivos de actividad para asegurar un sistema robusto.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5638502"/>
            <a:ext cx="9525000" cy="1485602"/>
          </a:xfrm>
          <a:prstGeom prst="roundRect">
            <a:avLst>
              <a:gd name="adj" fmla="val 7693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5500" y="5876627"/>
            <a:ext cx="8477250" cy="981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04. Escalabilidad Demostrable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Desarrollar una plataforma capaz de soportar pruebas de carga intensivas y futura expansión de módulos.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086272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3500" y="3762375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3500" y="5438477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33500" y="7114579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205358"/>
            <a:ext cx="24765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2881461"/>
            <a:ext cx="323850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4557563"/>
            <a:ext cx="247650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150" y="6233666"/>
            <a:ext cx="285750" cy="2952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Objetivos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Principales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95775"/>
            <a:ext cx="2430660" cy="1790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2066925"/>
            <a:ext cx="2430660" cy="156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60" y="4295775"/>
            <a:ext cx="2430660" cy="1790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541" y="1838325"/>
            <a:ext cx="2430660" cy="1790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43350"/>
            <a:ext cx="110490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759" y="4543425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Poppins SemiBold"/>
              </a:rPr>
              <a:t>1.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924425"/>
            <a:ext cx="203061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B8C8DC"/>
                </a:solidFill>
                <a:latin typeface="Inter"/>
              </a:rPr>
              <a:t>Registro seguro sin contraseñas (OTP) y configuración de perfil biométrico inicial.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440" y="2314575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Poppins SemiBold"/>
              </a:rPr>
              <a:t>2. Creación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4205" y="2695575"/>
            <a:ext cx="20306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B8C8DC"/>
                </a:solidFill>
                <a:latin typeface="Inter"/>
              </a:rPr>
              <a:t>Establecimiento de metas específicas, rutinas diarias y vinculación de dispositivos.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6120" y="4543425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Poppins SemiBold"/>
              </a:rPr>
              <a:t>3. Ejecución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885" y="4924425"/>
            <a:ext cx="203061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B8C8DC"/>
                </a:solidFill>
                <a:latin typeface="Inter"/>
              </a:rPr>
              <a:t>Check-in diario fluido desde la aplicación web principal o directamente desde la muñeca.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8801" y="2085975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Poppins SemiBold"/>
              </a:rPr>
              <a:t>4. Análisis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9566" y="2466975"/>
            <a:ext cx="203061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B8C8DC"/>
                </a:solidFill>
                <a:latin typeface="Inter"/>
              </a:rPr>
              <a:t>Revisión de rachas consolidadas, logros desbloqueados y ajuste de estrategias basadas en datos.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El Recorrido del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Usuario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72530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7111F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45210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7111F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7891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7111F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90571" y="38481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7111F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09650"/>
            <a:ext cx="11049000" cy="4656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903862"/>
            <a:ext cx="8572500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Notificación de código enviado exitosamente. Este paso es fundamental para el flujo seguro de registro y recuperación de cuentas, operando sin contraseñas temporales para proteger la identidad del usuario.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9175"/>
            <a:ext cx="11029950" cy="4637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Seguridad: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Verificación OTP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09650"/>
            <a:ext cx="11049000" cy="4945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6193333"/>
            <a:ext cx="8572500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Demostración de la integración con servicios de correo transaccional (ej. Mailtrap). El usuario recibe un código único de 6 dígitos con validez de 15 minutos, garantizando un acceso controlado.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9175"/>
            <a:ext cx="11029950" cy="49265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Seguridad: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Recepción de Correo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9405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199405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199905"/>
            <a:ext cx="55506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6B6D4"/>
                </a:solidFill>
                <a:latin typeface="Poppins SemiBold"/>
              </a:rPr>
              <a:t>Paso 1: Identidad Protegida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4255"/>
            <a:ext cx="528637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El usuario inicia la recuperación ingresando su correo electrónico verificado para solicitar un nuevo token de acceso seguro.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5199905"/>
            <a:ext cx="55506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06B6D4"/>
                </a:solidFill>
                <a:latin typeface="Poppins SemiBold"/>
              </a:rPr>
              <a:t>Paso 2: Validación Limpia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5714255"/>
            <a:ext cx="528637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Interfaz enfocada y libre de distracciones diseñada específicamente para la introducción rápida y precisa del código de 6 dígitos.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208930"/>
            <a:ext cx="5267325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1208930"/>
            <a:ext cx="5267325" cy="3790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132605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Flujo: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Recuperación de Cuenta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09650"/>
            <a:ext cx="11049000" cy="4945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6193333"/>
            <a:ext cx="8572500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El panel "Mi Perfil" centraliza la gestión de datos biométricos esenciales. Estas métricas no solo contextualizan al usuario, sino que alimentan los algoritmos de analítica física de la plataforma.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9175"/>
            <a:ext cx="11029950" cy="49265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Gestión: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Métricas Biométricas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09650"/>
            <a:ext cx="11049000" cy="4945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6193333"/>
            <a:ext cx="8572500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Vista detallada que resalta la asociación inmutable de la cuenta con un correo verificado, el tipo de suscripción del usuario y una visualización rápida de su consistencia actual (Rachas).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9175"/>
            <a:ext cx="11029950" cy="49265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Gestión: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Identidad y Rachas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2323"/>
            <a:ext cx="3460700" cy="36000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75" y="2162323"/>
            <a:ext cx="3460700" cy="36000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162323"/>
            <a:ext cx="3460849" cy="3600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1623" y="3314848"/>
            <a:ext cx="244030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FFFFFF"/>
                </a:solidFill>
                <a:latin typeface="Poppins SemiBold"/>
              </a:rPr>
              <a:t>Frontend Reactivo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29198"/>
            <a:ext cx="287015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Construido con React 19 y Vite para máximo rendimiento. UI estilizada con Tailwind CSS y animaciones fluidas con Framer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5703" y="3314848"/>
            <a:ext cx="236029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FFFFFF"/>
                </a:solidFill>
                <a:latin typeface="Poppins SemiBold"/>
              </a:rPr>
              <a:t>Backend Robusto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3829198"/>
            <a:ext cx="287015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Infraestructura Node.js con Express. Implementación de Socket.IO para tiempo real y Swagger para documentación de APIs.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9909" y="3314848"/>
            <a:ext cx="2660332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FFFFFF"/>
                </a:solidFill>
                <a:latin typeface="Poppins SemiBold"/>
              </a:rPr>
              <a:t>Persistencia Híbrida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4925" y="3829198"/>
            <a:ext cx="2870299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Estrategia dual: Sequelize (MySQL) para integridad relacional estricta y Mongoose (MongoDB) para alto volumen de logs.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650" y="2552848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301" y="2552848"/>
            <a:ext cx="4191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1950" y="2552848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Stack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Tecnológico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57251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55899"/>
            <a:ext cx="5286375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La separación clara de responsabilidades entre presentación, lógica de negocio y capas de persistencia es vital para el rendimiento a escala.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967186"/>
            <a:ext cx="50577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Presentación: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Vistas React conectadas mediante REST y Sockets.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717577"/>
            <a:ext cx="50577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Capa API: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Enrutamiento Express, validación estricta y middlewares.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467969"/>
            <a:ext cx="50577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SQL (Relacional):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Gestión transaccional de Usuarios, Hábitos y Logros.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5218360"/>
            <a:ext cx="50577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NoSQL (Documental):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Motor de almacenamiento masivo para eventos de actividad diarios.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66776"/>
            <a:ext cx="5267325" cy="3790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298623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736627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487019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237410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Arquitectura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Híbrida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09650"/>
            <a:ext cx="11049000" cy="4656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903862"/>
            <a:ext cx="8572500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El ecosistema QUANTIFY se expande a la muñeca. Esta vista de desarrollo muestra la inicialización de la app nativa WearOS (QuantifyApp.kt) junto a la interfaz web preparada para el emparejamiento.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9175"/>
            <a:ext cx="11029950" cy="4637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WearOS: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Inicio de Vinculación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09650"/>
            <a:ext cx="11049000" cy="4656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903862"/>
            <a:ext cx="8572500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Para garantizar que los datos fluyan de manera segura, el dispositivo genera un código de vinculación único. Este proceso ata físicamente el hardware a la cuenta del usuario en la base de datos principal.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9175"/>
            <a:ext cx="11029950" cy="4637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WearOS: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Sincronización Criptográfica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09650"/>
            <a:ext cx="11049000" cy="46560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903862"/>
            <a:ext cx="8572500" cy="868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Una vez completado el protocolo de emparejamiento, el reloj actúa como un cliente autónomo. Permite visualizar metas ("Caminar 10km") y registrar progreso con un solo toque, sincronizando en segundo plano.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019175"/>
            <a:ext cx="11029950" cy="4637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-571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WearOS: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Acción en la Muñeca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5112"/>
            <a:ext cx="4886325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662487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2250" i="0" u="none">
                <a:solidFill>
                  <a:srgbClr val="FFFFFF"/>
                </a:solidFill>
                <a:latin typeface="Poppins SemiBold"/>
              </a:rPr>
              <a:t>ADHERENCIA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536775"/>
            <a:ext cx="55506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oppins SemiBold"/>
              </a:rPr>
              <a:t>Transformando Eventos en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051125"/>
            <a:ext cx="5286375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Las métricas deben contar la historia del comportamiento del usuario. Implementamos dimensiones clave: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3225" y="3772941"/>
            <a:ext cx="4867275" cy="289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Tasa de Adherencia: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Días logrados vs. planeados.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3225" y="4157662"/>
            <a:ext cx="4867275" cy="289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Tendencia de Crecimiento: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Evolución histórica.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4542383"/>
            <a:ext cx="4867275" cy="289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Puntuación de Fricción: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Rendimiento vs. dificultad.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4927103"/>
            <a:ext cx="4867275" cy="289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1" sz="1425" i="0" u="none">
                <a:solidFill>
                  <a:srgbClr val="B8C8DC"/>
                </a:solidFill>
                <a:latin typeface="Inter"/>
              </a:rPr>
              <a:t>Análisis de Cohortes: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Retención a largo plazo.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79199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176712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56143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94615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6B6D4"/>
                </a:solidFill>
                <a:latin typeface="Inter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Datos que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Motivan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Preparados para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Escalar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02557"/>
            <a:ext cx="401050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FFFFF"/>
                </a:solidFill>
                <a:latin typeface="Poppins SemiBold"/>
              </a:rPr>
              <a:t>Arquitectura de Alto Volumen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16907"/>
            <a:ext cx="4953000" cy="1157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El sistema no es solo un prototipo funcional; está diseñado para pruebas de estrés reales. Cuenta con una API de Población dedicada para generar datasets masivos sintéticos.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417665"/>
            <a:ext cx="495300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B8C8DC"/>
                </a:solidFill>
                <a:latin typeface="Inter"/>
              </a:rPr>
              <a:t>Apuntamos a una capacidad de procesamiento fluida para </a:t>
            </a:r>
            <a:r>
              <a:rPr b="1" sz="1425" i="0" u="none">
                <a:solidFill>
                  <a:srgbClr val="B8C8DC"/>
                </a:solidFill>
                <a:latin typeface="Inter"/>
              </a:rPr>
              <a:t>más de 300,000 registros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iniciales, distribuidos a través de 9 módulos independientes (Auth, Logs, Achievements, etc.), asegurando que el rendimiento no degrade la experiencia de gamificación.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413867"/>
            <a:ext cx="11049000" cy="5097065"/>
          </a:xfrm>
          <a:prstGeom prst="roundRect">
            <a:avLst>
              <a:gd name="adj" fmla="val 0"/>
            </a:avLst>
          </a:prstGeom>
          <a:solidFill>
            <a:srgbClr val="0C1D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413867"/>
          <a:ext cx="11039473" cy="5097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86917"/>
                <a:gridCol w="3444775"/>
                <a:gridCol w="5107781"/>
              </a:tblGrid>
              <a:tr h="1019413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6B6D4"/>
                          </a:solidFill>
                          <a:latin typeface="Poppins SemiBold"/>
                        </a:rPr>
                        <a:t>Desafío Estructural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6B6D4"/>
                          </a:solidFill>
                          <a:latin typeface="Poppins SemiBold"/>
                        </a:rPr>
                        <a:t>Solución Implementada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6B6D4"/>
                          </a:solidFill>
                          <a:latin typeface="Poppins SemiBold"/>
                        </a:rPr>
                        <a:t>Beneficio Primario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B6D4"/>
                    </a:solidFill>
                  </a:tcPr>
                </a:tc>
              </a:tr>
              <a:tr h="1019413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Almacenamiento Mixto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Uso conjunto de Sequelize y Mongoose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Optimización: Relaciones estrictas vs Inserción masiva de logs.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9413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Protección de Rutas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Estrategia JWT + Middlewares de capa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Aislamiento seguro de endpoints privados de la API.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9413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Integridad de Datos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Validación con Express Validator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Saneamiento riguroso de inputs antes de tocar la lógica de negocio.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9413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Carga del Sistema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Módulo API de Población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B8C8DC"/>
                          </a:solidFill>
                          <a:latin typeface="Inter"/>
                        </a:rPr>
                        <a:t>Entorno controlado para inyectar volumen y auditar cuellos de botella.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466379"/>
            <a:ext cx="2486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63180" y="2466379"/>
            <a:ext cx="34447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07956" y="2466379"/>
            <a:ext cx="51077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262" y="3473946"/>
            <a:ext cx="2486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3180" y="3473946"/>
            <a:ext cx="34447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07956" y="3473946"/>
            <a:ext cx="51077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262" y="4481512"/>
            <a:ext cx="2486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180" y="4481512"/>
            <a:ext cx="34447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7956" y="4481512"/>
            <a:ext cx="51077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262" y="5489078"/>
            <a:ext cx="248691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180" y="5489078"/>
            <a:ext cx="34447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07956" y="5489078"/>
            <a:ext cx="51077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47067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Decisiones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Técnicas</a:t>
            </a:r>
            <a:r>
              <a:rPr b="1" sz="3600" i="0" u="none">
                <a:solidFill>
                  <a:srgbClr val="FFFFFF"/>
                </a:solidFill>
                <a:latin typeface="Poppins"/>
              </a:rPr>
              <a:t> Clave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2647"/>
            <a:ext cx="3460700" cy="33889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75" y="1892647"/>
            <a:ext cx="3460700" cy="33889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1892647"/>
            <a:ext cx="3460849" cy="3388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47912" y="5567362"/>
            <a:ext cx="7496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B8C8DC"/>
                </a:solidFill>
                <a:latin typeface="Inter"/>
              </a:rPr>
              <a:t>Referencias visuales del estándar de diseño y ejecución técnica perseguido en el proyecto.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188" y="4521547"/>
            <a:ext cx="2543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FFFFFF"/>
                </a:solidFill>
                <a:latin typeface="Inter Medium"/>
              </a:rPr>
              <a:t>Diseño Dark Mode Responsivo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051" y="4521547"/>
            <a:ext cx="21336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FFFFFF"/>
                </a:solidFill>
                <a:latin typeface="Inter Medium"/>
              </a:rPr>
              <a:t>Visualización de Tableros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1350" y="4521547"/>
            <a:ext cx="24574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FFFFFF"/>
                </a:solidFill>
                <a:latin typeface="Inter Medium"/>
              </a:rPr>
              <a:t>Código Backend Estructurado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235547"/>
            <a:ext cx="2870150" cy="2095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850" y="2235547"/>
            <a:ext cx="2870150" cy="2095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2235547"/>
            <a:ext cx="2870299" cy="2095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Contexto y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Visión UI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189136"/>
            <a:ext cx="9525000" cy="1196131"/>
          </a:xfrm>
          <a:prstGeom prst="roundRect">
            <a:avLst>
              <a:gd name="adj" fmla="val 9555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95500" y="1427261"/>
            <a:ext cx="8477250" cy="7198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Angel de Jesús &amp; Francisco Garcia G.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Liderazgo Técnico, Diseño de Arquitectura y Desarrollo Principal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575768"/>
            <a:ext cx="9525000" cy="1196131"/>
          </a:xfrm>
          <a:prstGeom prst="roundRect">
            <a:avLst>
              <a:gd name="adj" fmla="val 9555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95500" y="2813893"/>
            <a:ext cx="8477250" cy="7198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Farias Leyva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Desarrollo Frontend Reactivo y Elaboración de Documentación Técnica.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962400"/>
            <a:ext cx="9525000" cy="1196131"/>
          </a:xfrm>
          <a:prstGeom prst="roundRect">
            <a:avLst>
              <a:gd name="adj" fmla="val 9555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5500" y="4200525"/>
            <a:ext cx="8477250" cy="7198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Artiaga Morales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Aseguramiento de Calidad (QA), Pruebas Estructurales e Integración Analítica.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5349031"/>
            <a:ext cx="9525000" cy="1196131"/>
          </a:xfrm>
          <a:prstGeom prst="roundRect">
            <a:avLst>
              <a:gd name="adj" fmla="val 9555"/>
            </a:avLst>
          </a:prstGeom>
          <a:solidFill>
            <a:srgbClr val="0C1D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5500" y="5587156"/>
            <a:ext cx="8477250" cy="7198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b="0" sz="1425" i="0" u="none">
                <a:solidFill>
                  <a:srgbClr val="FFFFFF"/>
                </a:solidFill>
                <a:latin typeface="Inter SemiBold"/>
              </a:rPr>
              <a:t>Brian Jesus Mendoza Marquez</a:t>
            </a:r>
            <a:r>
              <a:rPr b="0" sz="1425" i="0" u="none">
                <a:solidFill>
                  <a:srgbClr val="B8C8DC"/>
                </a:solidFill>
                <a:latin typeface="Inter"/>
              </a:rPr>
              <a:t> Desarrollo Core Complementario e Ingeniería de Soporte Continuo.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375743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3500" y="3762375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3500" y="5149006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33500" y="6535638"/>
            <a:ext cx="9525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639490"/>
            <a:ext cx="32385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3026122"/>
            <a:ext cx="361950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4412753"/>
            <a:ext cx="285750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150" y="5799385"/>
            <a:ext cx="361950" cy="2952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122336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El </a:t>
            </a:r>
            <a:r>
              <a:rPr b="1" sz="3600" i="0" u="none">
                <a:solidFill>
                  <a:srgbClr val="06B6D4"/>
                </a:solidFill>
                <a:latin typeface="Poppins"/>
              </a:rPr>
              <a:t>Equipo</a:t>
            </a:r>
            <a:r>
              <a:rPr b="1" sz="3600" i="0" u="none">
                <a:solidFill>
                  <a:srgbClr val="FFFFFF"/>
                </a:solidFill>
                <a:latin typeface="Poppins"/>
              </a:rPr>
              <a:t> Detrás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4625280"/>
            <a:ext cx="60198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708844"/>
            <a:ext cx="1160145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0" i="0" u="none">
                <a:solidFill>
                  <a:srgbClr val="FFFFFF"/>
                </a:solidFill>
                <a:latin typeface="Poppins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23344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FFFFF"/>
                </a:solidFill>
                <a:latin typeface="Inter"/>
              </a:rPr>
              <a:t>Gracias por su tiempo y atención.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90619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690961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7573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26050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68143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68143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4662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4662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250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250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5035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035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5614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049065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8C8DC"/>
                </a:solidFill>
                <a:latin typeface="Inter"/>
              </a:rPr>
              <a:t>https://png.pngtree.com/background/20231016/original/pngtree-3d-rendered-abstract-tech-background-with-a-dark-theme-picture-image_5578578.jpg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294780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8C8D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40384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2833836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8C8DC"/>
                </a:solidFill>
                <a:latin typeface="Inter"/>
              </a:rPr>
              <a:t>https://png.pngtree.com/thumb_back/fh260/background/20241227/pngtree-dark-data-analytics-dashboard-black-background-image_16870487.jpg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3079551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8C8D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2515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361860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8C8DC"/>
                </a:solidFill>
                <a:latin typeface="Inter"/>
              </a:rPr>
              <a:t>https://cdn.dribbble.com/userupload/32036095/file/original-de7ceff7f7574016195ffe2cc9228b9c.png?resize=400x0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86432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8C8D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09926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440337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8C8DC"/>
                </a:solidFill>
                <a:latin typeface="Inter"/>
              </a:rPr>
              <a:t>https://wallsrepublic.com/cdn/shop/products/BlackAbstractGeometricSwirlR8004.jpg?v=1762537649&amp;width=1000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464909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8C8D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wallsrepublic.com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93816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5188148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8C8DC"/>
                </a:solidFill>
                <a:latin typeface="Inter"/>
              </a:rPr>
              <a:t>https://static.vecteezy.com/system/resources/previews/056/521/447/non_2x/a-dark-technology-futuristic-design-with-glowing-blue-circuit-like-lines-on-blue-background-design-a-modern-technology-background-in-free-vector.jpg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563195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8C8D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476250"/>
            <a:ext cx="11601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